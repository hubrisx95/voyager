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9725" y="362013"/>
            <a:ext cx="3241040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tua.gov.tr/tr" TargetMode="External"/><Relationship Id="rId3" Type="http://schemas.openxmlformats.org/officeDocument/2006/relationships/hyperlink" Target="https://voyager.jpl.nasa.gov/" TargetMode="External"/><Relationship Id="rId4" Type="http://schemas.openxmlformats.org/officeDocument/2006/relationships/hyperlink" Target="https://www.jpl.nasa.gov/" TargetMode="External"/><Relationship Id="rId5" Type="http://schemas.openxmlformats.org/officeDocument/2006/relationships/hyperlink" Target="https://www.esa.int/" TargetMode="External"/><Relationship Id="rId6" Type="http://schemas.openxmlformats.org/officeDocument/2006/relationships/hyperlink" Target="https://www.usgs.gov/" TargetMode="External"/><Relationship Id="rId7" Type="http://schemas.openxmlformats.org/officeDocument/2006/relationships/hyperlink" Target="https://en.wikipedia.org/wiki/Voyager_1" TargetMode="External"/><Relationship Id="rId8" Type="http://schemas.openxmlformats.org/officeDocument/2006/relationships/hyperlink" Target="https://www.nationalgeographic.com/" TargetMode="External"/><Relationship Id="rId9" Type="http://schemas.openxmlformats.org/officeDocument/2006/relationships/hyperlink" Target="https://chatgpt.com/c/69c6ca97-48b4-8326-8f22-664d11904c43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65"/>
              <a:t>1.Proje</a:t>
            </a:r>
            <a:r>
              <a:rPr dirty="0" spc="-195"/>
              <a:t> </a:t>
            </a:r>
            <a:r>
              <a:rPr dirty="0" spc="60"/>
              <a:t>özeti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39725" y="1027430"/>
            <a:ext cx="6819265" cy="336867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368935">
              <a:lnSpc>
                <a:spcPct val="116700"/>
              </a:lnSpc>
              <a:spcBef>
                <a:spcPts val="70"/>
              </a:spcBef>
            </a:pPr>
            <a:r>
              <a:rPr dirty="0" sz="1200">
                <a:latin typeface="Arial"/>
                <a:cs typeface="Arial"/>
              </a:rPr>
              <a:t>Projemizin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temel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amacı,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1977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yılında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fırlatılan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uzay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sondası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Voyager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1'in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Güneş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Sistemi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dışına </a:t>
            </a:r>
            <a:r>
              <a:rPr dirty="0" sz="1200">
                <a:latin typeface="Arial"/>
                <a:cs typeface="Arial"/>
              </a:rPr>
              <a:t>uzanan yolculuğunu, özellikle astronomi ve fen bilimleri eğitiminde yenilikçi bir materyal </a:t>
            </a:r>
            <a:r>
              <a:rPr dirty="0" sz="1200" spc="-10">
                <a:latin typeface="Arial"/>
                <a:cs typeface="Arial"/>
              </a:rPr>
              <a:t>olarak </a:t>
            </a:r>
            <a:r>
              <a:rPr dirty="0" sz="1200">
                <a:latin typeface="Arial"/>
                <a:cs typeface="Arial"/>
              </a:rPr>
              <a:t>kullanılmak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üzere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etkileşimli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bir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3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boyutlu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web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simülasyonuna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dönüştürmektir.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Geliştirdiğimiz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bu </a:t>
            </a:r>
            <a:r>
              <a:rPr dirty="0" sz="1200">
                <a:latin typeface="Arial"/>
                <a:cs typeface="Arial"/>
              </a:rPr>
              <a:t>eğitim teknolojisi çözümü; yörünge dinamiklerini, astronomik mesafe verilerini, </a:t>
            </a:r>
            <a:r>
              <a:rPr dirty="0" sz="1200" spc="-10">
                <a:latin typeface="Arial"/>
                <a:cs typeface="Arial"/>
              </a:rPr>
              <a:t>gezegenlerin </a:t>
            </a:r>
            <a:r>
              <a:rPr dirty="0" sz="1200">
                <a:latin typeface="Arial"/>
                <a:cs typeface="Arial"/>
              </a:rPr>
              <a:t>konumlarını ve uzay aracının donanım sistemlerinin zaman içindeki durumunu tek bir </a:t>
            </a:r>
            <a:r>
              <a:rPr dirty="0" sz="1200" spc="-10">
                <a:latin typeface="Arial"/>
                <a:cs typeface="Arial"/>
              </a:rPr>
              <a:t>arayüzde </a:t>
            </a:r>
            <a:r>
              <a:rPr dirty="0" sz="1200">
                <a:latin typeface="Arial"/>
                <a:cs typeface="Arial"/>
              </a:rPr>
              <a:t>birleştirmektedir.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Web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tabanlı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mimarisi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sayesinde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öğrencilerin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ve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eğitimcilerin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herhangi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bir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ek</a:t>
            </a:r>
            <a:endParaRPr sz="1200">
              <a:latin typeface="Arial"/>
              <a:cs typeface="Arial"/>
            </a:endParaRPr>
          </a:p>
          <a:p>
            <a:pPr marL="12700" marR="85090">
              <a:lnSpc>
                <a:spcPct val="114599"/>
              </a:lnSpc>
            </a:pPr>
            <a:r>
              <a:rPr dirty="0" sz="1200">
                <a:latin typeface="Arial"/>
                <a:cs typeface="Arial"/>
              </a:rPr>
              <a:t>kuruluma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ihtiyaç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duymadan,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doğrudan tarayıcı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üzerinden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Güneş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Sistemi'ni ve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derin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uzay </a:t>
            </a:r>
            <a:r>
              <a:rPr dirty="0" sz="1200" spc="-10">
                <a:latin typeface="Arial"/>
                <a:cs typeface="Arial"/>
              </a:rPr>
              <a:t>görevlerini </a:t>
            </a:r>
            <a:r>
              <a:rPr dirty="0" sz="1200">
                <a:latin typeface="Arial"/>
                <a:cs typeface="Arial"/>
              </a:rPr>
              <a:t>teknik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bir perspektifle inceleyebilmelerine olanak </a:t>
            </a:r>
            <a:r>
              <a:rPr dirty="0" sz="1200" spc="-10">
                <a:latin typeface="Arial"/>
                <a:cs typeface="Arial"/>
              </a:rPr>
              <a:t>tanımaktadır.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17200"/>
              </a:lnSpc>
              <a:spcBef>
                <a:spcPts val="1235"/>
              </a:spcBef>
            </a:pPr>
            <a:r>
              <a:rPr dirty="0" sz="1200">
                <a:latin typeface="Arial"/>
                <a:cs typeface="Arial"/>
              </a:rPr>
              <a:t>Bu projenin sağladığı en büyük fayda, teorik astronomi bilgilerini ve karmaşık kozmik ölçekleri </a:t>
            </a:r>
            <a:r>
              <a:rPr dirty="0" sz="1200" spc="-10">
                <a:latin typeface="Arial"/>
                <a:cs typeface="Arial"/>
              </a:rPr>
              <a:t>görsel, </a:t>
            </a:r>
            <a:r>
              <a:rPr dirty="0" sz="1200">
                <a:latin typeface="Arial"/>
                <a:cs typeface="Arial"/>
              </a:rPr>
              <a:t>anlaşılır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ve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uygulamalı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bir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öğrenme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deneyimine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çevirmesidir.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Kullanıcılar,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simülasyon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içerisindeki </a:t>
            </a:r>
            <a:r>
              <a:rPr dirty="0" sz="1200">
                <a:latin typeface="Arial"/>
                <a:cs typeface="Arial"/>
              </a:rPr>
              <a:t>zaman kontrol mekanizmasıyla gezegenlerin yörünge hareketlerini hızlandırıp </a:t>
            </a:r>
            <a:r>
              <a:rPr dirty="0" sz="1200" spc="-10">
                <a:latin typeface="Arial"/>
                <a:cs typeface="Arial"/>
              </a:rPr>
              <a:t>yavaşlatarak</a:t>
            </a:r>
            <a:endParaRPr sz="1200">
              <a:latin typeface="Arial"/>
              <a:cs typeface="Arial"/>
            </a:endParaRPr>
          </a:p>
          <a:p>
            <a:pPr marL="12700" marR="161925">
              <a:lnSpc>
                <a:spcPct val="114599"/>
              </a:lnSpc>
            </a:pPr>
            <a:r>
              <a:rPr dirty="0" sz="1200">
                <a:latin typeface="Arial"/>
                <a:cs typeface="Arial"/>
              </a:rPr>
              <a:t>inceleyebilir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ve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Voyager'ın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anlık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hız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ile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mesafe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verilerini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doğrudan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analiz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edebilirler.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Bilimsel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verileri </a:t>
            </a:r>
            <a:r>
              <a:rPr dirty="0" sz="1200">
                <a:latin typeface="Arial"/>
                <a:cs typeface="Arial"/>
              </a:rPr>
              <a:t>modern ve etkileşimli bir arayüz ile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sunan bu çalışma, öğrencilerin uzay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bilimlerine olan </a:t>
            </a:r>
            <a:r>
              <a:rPr dirty="0" sz="1200" spc="-10">
                <a:latin typeface="Arial"/>
                <a:cs typeface="Arial"/>
              </a:rPr>
              <a:t>ilgisini</a:t>
            </a:r>
            <a:endParaRPr sz="1200">
              <a:latin typeface="Arial"/>
              <a:cs typeface="Arial"/>
            </a:endParaRPr>
          </a:p>
          <a:p>
            <a:pPr marL="12700" marR="39370">
              <a:lnSpc>
                <a:spcPct val="114599"/>
              </a:lnSpc>
              <a:spcBef>
                <a:spcPts val="75"/>
              </a:spcBef>
            </a:pPr>
            <a:r>
              <a:rPr dirty="0" sz="1200">
                <a:latin typeface="Arial"/>
                <a:cs typeface="Arial"/>
              </a:rPr>
              <a:t>artırmayı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ve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STEM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eğitimini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desteklemeyi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hedefleyen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işlevsel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bir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veri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görselleştirme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platformu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olarak </a:t>
            </a:r>
            <a:r>
              <a:rPr dirty="0" sz="1200">
                <a:latin typeface="Arial"/>
                <a:cs typeface="Arial"/>
              </a:rPr>
              <a:t>öne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çıkmaktadır.Bunlar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anlatılırken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voyager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özellikle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seçilmiş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ve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modellenmiştir.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39725" y="4591113"/>
            <a:ext cx="427799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50">
                <a:latin typeface="Palatino Linotype"/>
                <a:cs typeface="Palatino Linotype"/>
              </a:rPr>
              <a:t>2.DEMO/SUNUM</a:t>
            </a:r>
            <a:r>
              <a:rPr dirty="0" sz="3200" spc="-120">
                <a:latin typeface="Palatino Linotype"/>
                <a:cs typeface="Palatino Linotype"/>
              </a:rPr>
              <a:t> </a:t>
            </a:r>
            <a:r>
              <a:rPr dirty="0" sz="3200" spc="-40">
                <a:latin typeface="Palatino Linotype"/>
                <a:cs typeface="Palatino Linotype"/>
              </a:rPr>
              <a:t>LİNKİ</a:t>
            </a:r>
            <a:endParaRPr sz="3200">
              <a:latin typeface="Palatino Linotype"/>
              <a:cs typeface="Palatino Linotype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425" y="5295899"/>
            <a:ext cx="6857999" cy="38576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10"/>
              <a:t>3.PROJE</a:t>
            </a:r>
            <a:r>
              <a:rPr dirty="0" spc="-200"/>
              <a:t> </a:t>
            </a:r>
            <a:r>
              <a:rPr dirty="0" spc="35"/>
              <a:t>ÇIKTISI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39725" y="1070006"/>
            <a:ext cx="6882130" cy="9098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25">
                <a:latin typeface="Palatino Linotype"/>
                <a:cs typeface="Palatino Linotype"/>
              </a:rPr>
              <a:t>+Nasıl</a:t>
            </a:r>
            <a:r>
              <a:rPr dirty="0" sz="1900" spc="-80">
                <a:latin typeface="Palatino Linotype"/>
                <a:cs typeface="Palatino Linotype"/>
              </a:rPr>
              <a:t> </a:t>
            </a:r>
            <a:r>
              <a:rPr dirty="0" sz="1900" spc="35">
                <a:latin typeface="Palatino Linotype"/>
                <a:cs typeface="Palatino Linotype"/>
              </a:rPr>
              <a:t>çalışıyor?</a:t>
            </a:r>
            <a:endParaRPr sz="1900">
              <a:latin typeface="Palatino Linotype"/>
              <a:cs typeface="Palatino Linotype"/>
            </a:endParaRPr>
          </a:p>
          <a:p>
            <a:pPr marL="12700" marR="274955">
              <a:lnSpc>
                <a:spcPct val="117200"/>
              </a:lnSpc>
              <a:spcBef>
                <a:spcPts val="1170"/>
              </a:spcBef>
            </a:pPr>
            <a:r>
              <a:rPr dirty="0" sz="1200">
                <a:latin typeface="Arial"/>
                <a:cs typeface="Arial"/>
              </a:rPr>
              <a:t>Bu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3D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Voyager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1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simülasyonu,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Three.js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kütüphanesiyle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hazırlanan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ve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tarayıcı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üzerinde</a:t>
            </a:r>
            <a:r>
              <a:rPr dirty="0" sz="1200" spc="-10">
                <a:latin typeface="Arial"/>
                <a:cs typeface="Arial"/>
              </a:rPr>
              <a:t> çalışan </a:t>
            </a:r>
            <a:r>
              <a:rPr dirty="0" sz="1200">
                <a:latin typeface="Arial"/>
                <a:cs typeface="Arial"/>
              </a:rPr>
              <a:t>interaktif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bir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uzay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modelidir.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Kodun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temelinde;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yıldızlar,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Güneş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ve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gezegenlerin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yer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aldığı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bir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3D </a:t>
            </a:r>
            <a:r>
              <a:rPr dirty="0" sz="1200">
                <a:latin typeface="Arial"/>
                <a:cs typeface="Arial"/>
              </a:rPr>
              <a:t>sahne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ile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bu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objelerin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yörünge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hareketlerini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düzenleyen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matematiksel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bir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motor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bulunur.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1977'deki </a:t>
            </a:r>
            <a:r>
              <a:rPr dirty="0" sz="1200">
                <a:latin typeface="Arial"/>
                <a:cs typeface="Arial"/>
              </a:rPr>
              <a:t>fırlatılış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tarihini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baz alan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sistem, geçen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süreyi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hesaplayarak aracın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yaklaşık </a:t>
            </a:r>
            <a:r>
              <a:rPr dirty="0" sz="1200" b="1">
                <a:latin typeface="Arial"/>
                <a:cs typeface="Arial"/>
              </a:rPr>
              <a:t>17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km/s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hızla </a:t>
            </a:r>
            <a:r>
              <a:rPr dirty="0" sz="1200" spc="-10">
                <a:latin typeface="Arial"/>
                <a:cs typeface="Arial"/>
              </a:rPr>
              <a:t>katettiği </a:t>
            </a:r>
            <a:r>
              <a:rPr dirty="0" sz="1200">
                <a:latin typeface="Arial"/>
                <a:cs typeface="Arial"/>
              </a:rPr>
              <a:t>mesafeyi ve güncel konumunu</a:t>
            </a:r>
            <a:r>
              <a:rPr dirty="0" sz="1200" spc="-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Astronomik Birim (AU) cinsinden </a:t>
            </a:r>
            <a:r>
              <a:rPr dirty="0" sz="1200" spc="-10">
                <a:latin typeface="Arial"/>
                <a:cs typeface="Arial"/>
              </a:rPr>
              <a:t>belirler.</a:t>
            </a:r>
            <a:endParaRPr sz="1200">
              <a:latin typeface="Arial"/>
              <a:cs typeface="Arial"/>
            </a:endParaRPr>
          </a:p>
          <a:p>
            <a:pPr marL="12700" marR="153670">
              <a:lnSpc>
                <a:spcPct val="117200"/>
              </a:lnSpc>
              <a:spcBef>
                <a:spcPts val="1165"/>
              </a:spcBef>
            </a:pPr>
            <a:r>
              <a:rPr dirty="0" sz="1200">
                <a:latin typeface="Arial"/>
                <a:cs typeface="Arial"/>
              </a:rPr>
              <a:t>Kullanıcılar,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arayüzdeki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tarih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seçici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ve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hız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ayarları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sayesinde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simülasyonu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ileri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veya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geri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sarabilir,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ok </a:t>
            </a:r>
            <a:r>
              <a:rPr dirty="0" sz="1200">
                <a:latin typeface="Arial"/>
                <a:cs typeface="Arial"/>
              </a:rPr>
              <a:t>tuşlarıyla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zamanın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akış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hızını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değiştirebilirler.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Simülasyonda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ayrıca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Voyager'ın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üzerindeki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bilimsel </a:t>
            </a:r>
            <a:r>
              <a:rPr dirty="0" sz="1200">
                <a:latin typeface="Arial"/>
                <a:cs typeface="Arial"/>
              </a:rPr>
              <a:t>cihazların hangi yıllarda kapatıldığını gösteren bir "Donanım Sistemleri" paneli ve 121</a:t>
            </a:r>
            <a:r>
              <a:rPr dirty="0" sz="1200" spc="-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AU </a:t>
            </a:r>
            <a:r>
              <a:rPr dirty="0" sz="1200" spc="-10">
                <a:latin typeface="Arial"/>
                <a:cs typeface="Arial"/>
              </a:rPr>
              <a:t>mesafede </a:t>
            </a:r>
            <a:r>
              <a:rPr dirty="0" sz="1200">
                <a:latin typeface="Arial"/>
                <a:cs typeface="Arial"/>
              </a:rPr>
              <a:t>yer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alan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sembolik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bir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Heliopause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sınırı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mevcuttur.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Fare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ile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nesnelere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tıklandığında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ise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gök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cismi </a:t>
            </a:r>
            <a:r>
              <a:rPr dirty="0" sz="1200">
                <a:latin typeface="Arial"/>
                <a:cs typeface="Arial"/>
              </a:rPr>
              <a:t>veya araç hakkında teknik bilgiler ekrana </a:t>
            </a:r>
            <a:r>
              <a:rPr dirty="0" sz="1200" spc="-10">
                <a:latin typeface="Arial"/>
                <a:cs typeface="Arial"/>
              </a:rPr>
              <a:t>yansıtılır.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900">
                <a:latin typeface="Palatino Linotype"/>
                <a:cs typeface="Palatino Linotype"/>
              </a:rPr>
              <a:t>+Hangi</a:t>
            </a:r>
            <a:r>
              <a:rPr dirty="0" sz="1900" spc="-5">
                <a:latin typeface="Palatino Linotype"/>
                <a:cs typeface="Palatino Linotype"/>
              </a:rPr>
              <a:t> </a:t>
            </a:r>
            <a:r>
              <a:rPr dirty="0" sz="1900" spc="10">
                <a:latin typeface="Palatino Linotype"/>
                <a:cs typeface="Palatino Linotype"/>
              </a:rPr>
              <a:t>problemi</a:t>
            </a:r>
            <a:r>
              <a:rPr dirty="0" sz="1900">
                <a:latin typeface="Palatino Linotype"/>
                <a:cs typeface="Palatino Linotype"/>
              </a:rPr>
              <a:t> </a:t>
            </a:r>
            <a:r>
              <a:rPr dirty="0" sz="1900" spc="-10">
                <a:latin typeface="Palatino Linotype"/>
                <a:cs typeface="Palatino Linotype"/>
              </a:rPr>
              <a:t>çözüyor</a:t>
            </a:r>
            <a:endParaRPr sz="1900">
              <a:latin typeface="Palatino Linotype"/>
              <a:cs typeface="Palatino Linotype"/>
            </a:endParaRPr>
          </a:p>
          <a:p>
            <a:pPr marL="12700" marR="134620">
              <a:lnSpc>
                <a:spcPct val="114599"/>
              </a:lnSpc>
              <a:spcBef>
                <a:spcPts val="1285"/>
              </a:spcBef>
            </a:pPr>
            <a:r>
              <a:rPr dirty="0" sz="1200">
                <a:latin typeface="Arial"/>
                <a:cs typeface="Arial"/>
              </a:rPr>
              <a:t>Bu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3D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Voyager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1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simülasyonu,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geleneksel uzay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eğitimindeki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statik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bilgi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sorununu ortadan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kaldırarak </a:t>
            </a:r>
            <a:r>
              <a:rPr dirty="0" sz="1200">
                <a:latin typeface="Arial"/>
                <a:cs typeface="Arial"/>
              </a:rPr>
              <a:t>teorik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veriyi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pratik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bir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uzay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refleksine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dönüştüren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bir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uzay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okuryazarlığı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ve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psikolojik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hazırlık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9"/>
              </a:spcBef>
            </a:pPr>
            <a:r>
              <a:rPr dirty="0" sz="1200" b="1">
                <a:latin typeface="Arial"/>
                <a:cs typeface="Arial"/>
              </a:rPr>
              <a:t>platformu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olarak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işlev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görür.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Projenin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temel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misyonu,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astronot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olma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hayali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kuran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bireylere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uzay</a:t>
            </a:r>
            <a:endParaRPr sz="1200">
              <a:latin typeface="Arial"/>
              <a:cs typeface="Arial"/>
            </a:endParaRPr>
          </a:p>
          <a:p>
            <a:pPr marL="12700" marR="296545">
              <a:lnSpc>
                <a:spcPct val="114599"/>
              </a:lnSpc>
              <a:spcBef>
                <a:spcPts val="75"/>
              </a:spcBef>
            </a:pPr>
            <a:r>
              <a:rPr dirty="0" sz="1200">
                <a:latin typeface="Arial"/>
                <a:cs typeface="Arial"/>
              </a:rPr>
              <a:t>görevlerinin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yalnızca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mühendislik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zorluklarını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değil;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yarattığı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ağır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psikolojik yükü,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mutlak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izolasyon </a:t>
            </a:r>
            <a:r>
              <a:rPr dirty="0" sz="1200">
                <a:latin typeface="Arial"/>
                <a:cs typeface="Arial"/>
              </a:rPr>
              <a:t>hissini ve kriz anlarında saniyeler içinde karar alma zorunluluğunu güvenli bir web </a:t>
            </a:r>
            <a:r>
              <a:rPr dirty="0" sz="1200" spc="-10">
                <a:latin typeface="Arial"/>
                <a:cs typeface="Arial"/>
              </a:rPr>
              <a:t>ortamında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14599"/>
              </a:lnSpc>
              <a:spcBef>
                <a:spcPts val="70"/>
              </a:spcBef>
            </a:pPr>
            <a:r>
              <a:rPr dirty="0" sz="1200">
                <a:latin typeface="Arial"/>
                <a:cs typeface="Arial"/>
              </a:rPr>
              <a:t>deneyimletmektir.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1977'den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günümüze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uzanan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bu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dijital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yolculukta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kullanıcılar,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"sürdürülebilir </a:t>
            </a:r>
            <a:r>
              <a:rPr dirty="0" sz="1200">
                <a:latin typeface="Arial"/>
                <a:cs typeface="Arial"/>
              </a:rPr>
              <a:t>uyumluluk"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ilkeleri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doğrultusunda sınırlı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kaynakların yönetimini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ve enerji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tasarrufu nedeniyle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devre </a:t>
            </a:r>
            <a:r>
              <a:rPr dirty="0" sz="1200" spc="-20">
                <a:latin typeface="Arial"/>
                <a:cs typeface="Arial"/>
              </a:rPr>
              <a:t>dışı </a:t>
            </a:r>
            <a:r>
              <a:rPr dirty="0" sz="1200">
                <a:latin typeface="Arial"/>
                <a:cs typeface="Arial"/>
              </a:rPr>
              <a:t>kalan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donanımların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yarattığı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stratejik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kayıpları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bizzat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gözlemlerler.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 spc="-20">
                <a:latin typeface="Arial"/>
                <a:cs typeface="Arial"/>
              </a:rPr>
              <a:t>Teknik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olarak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Three.js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altyapısıyla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desteklenen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simülasyon,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Voyager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1'in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yaklaşık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17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km/s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hızla</a:t>
            </a:r>
            <a:endParaRPr sz="1200">
              <a:latin typeface="Arial"/>
              <a:cs typeface="Arial"/>
            </a:endParaRPr>
          </a:p>
          <a:p>
            <a:pPr marL="12700" marR="236854">
              <a:lnSpc>
                <a:spcPct val="114599"/>
              </a:lnSpc>
            </a:pPr>
            <a:r>
              <a:rPr dirty="0" sz="1200">
                <a:latin typeface="Arial"/>
                <a:cs typeface="Arial"/>
              </a:rPr>
              <a:t>katettiği mesafeyi ve güncel konumunu</a:t>
            </a:r>
            <a:r>
              <a:rPr dirty="0" sz="1200" spc="-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Astronomik Birim (AU) cinsinden anlık olarak </a:t>
            </a:r>
            <a:r>
              <a:rPr dirty="0" sz="1200" spc="-10">
                <a:latin typeface="Arial"/>
                <a:cs typeface="Arial"/>
              </a:rPr>
              <a:t>hesaplayarak </a:t>
            </a:r>
            <a:r>
              <a:rPr dirty="0" sz="1200">
                <a:latin typeface="Arial"/>
                <a:cs typeface="Arial"/>
              </a:rPr>
              <a:t>"geri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dönüşü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olmayan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yol"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hissini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pekiştirir.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Kullanıcı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etkileşimi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sayesinde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adaylar,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derin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uzayın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200">
                <a:latin typeface="Arial"/>
                <a:cs typeface="Arial"/>
              </a:rPr>
              <a:t>muazzam ölçeğini kavrarken aynı zamanda karmaşık telemetri verilerini okuma ve </a:t>
            </a:r>
            <a:r>
              <a:rPr dirty="0" sz="1200" spc="-10">
                <a:latin typeface="Arial"/>
                <a:cs typeface="Arial"/>
              </a:rPr>
              <a:t>yorumlama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dirty="0" sz="1200">
                <a:latin typeface="Arial"/>
                <a:cs typeface="Arial"/>
              </a:rPr>
              <a:t>becerisi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kazanarak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zihinsel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dayanıklılıklarını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test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ederler.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Bu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yapı,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kağıt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üzerindeki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bilgiyi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yaşayan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bir</a:t>
            </a:r>
            <a:endParaRPr sz="1200">
              <a:latin typeface="Arial"/>
              <a:cs typeface="Arial"/>
            </a:endParaRPr>
          </a:p>
          <a:p>
            <a:pPr marL="12700" marR="541655">
              <a:lnSpc>
                <a:spcPct val="114599"/>
              </a:lnSpc>
              <a:spcBef>
                <a:spcPts val="75"/>
              </a:spcBef>
            </a:pPr>
            <a:r>
              <a:rPr dirty="0" sz="1200">
                <a:latin typeface="Arial"/>
                <a:cs typeface="Arial"/>
              </a:rPr>
              <a:t>deneyime dönüştürerek geleceğin astronot adaylarının mesleki ve zihinsel hazırlıklarını </a:t>
            </a:r>
            <a:r>
              <a:rPr dirty="0" sz="1200" spc="-10">
                <a:latin typeface="Arial"/>
                <a:cs typeface="Arial"/>
              </a:rPr>
              <a:t>henüz </a:t>
            </a:r>
            <a:r>
              <a:rPr dirty="0" sz="1200">
                <a:latin typeface="Arial"/>
                <a:cs typeface="Arial"/>
              </a:rPr>
              <a:t>Dünya'dayken tamamlamalarına olanak </a:t>
            </a:r>
            <a:r>
              <a:rPr dirty="0" sz="1200" spc="-10">
                <a:latin typeface="Arial"/>
                <a:cs typeface="Arial"/>
              </a:rPr>
              <a:t>tanır.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900">
                <a:latin typeface="Palatino Linotype"/>
                <a:cs typeface="Palatino Linotype"/>
              </a:rPr>
              <a:t>+Hangi</a:t>
            </a:r>
            <a:r>
              <a:rPr dirty="0" sz="1900" spc="-110">
                <a:latin typeface="Palatino Linotype"/>
                <a:cs typeface="Palatino Linotype"/>
              </a:rPr>
              <a:t> </a:t>
            </a:r>
            <a:r>
              <a:rPr dirty="0" sz="1900" spc="65">
                <a:latin typeface="Palatino Linotype"/>
                <a:cs typeface="Palatino Linotype"/>
              </a:rPr>
              <a:t>teknolojiler</a:t>
            </a:r>
            <a:r>
              <a:rPr dirty="0" sz="1900" spc="-105">
                <a:latin typeface="Palatino Linotype"/>
                <a:cs typeface="Palatino Linotype"/>
              </a:rPr>
              <a:t> </a:t>
            </a:r>
            <a:r>
              <a:rPr dirty="0" sz="1900" spc="-10">
                <a:latin typeface="Palatino Linotype"/>
                <a:cs typeface="Palatino Linotype"/>
              </a:rPr>
              <a:t>kullanıldı</a:t>
            </a:r>
            <a:endParaRPr sz="1900">
              <a:latin typeface="Palatino Linotype"/>
              <a:cs typeface="Palatino Linotype"/>
            </a:endParaRPr>
          </a:p>
          <a:p>
            <a:pPr marL="12700" marR="25400">
              <a:lnSpc>
                <a:spcPct val="115900"/>
              </a:lnSpc>
              <a:spcBef>
                <a:spcPts val="1270"/>
              </a:spcBef>
            </a:pPr>
            <a:r>
              <a:rPr dirty="0" sz="1200">
                <a:latin typeface="Arial"/>
                <a:cs typeface="Arial"/>
              </a:rPr>
              <a:t>Bu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3D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Voyager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1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simülasyonu,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astronot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adaylarının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zihinsel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dayanıklılığını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ve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dijital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okuryazarlığını </a:t>
            </a:r>
            <a:r>
              <a:rPr dirty="0" sz="1200">
                <a:latin typeface="Arial"/>
                <a:cs typeface="Arial"/>
              </a:rPr>
              <a:t>artırmak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amacıyla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Three.js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kütüphanesinin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sunduğu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WebGL</a:t>
            </a:r>
            <a:r>
              <a:rPr dirty="0" sz="1200" spc="-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altyapısını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kullanarak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tarayıcı</a:t>
            </a:r>
            <a:r>
              <a:rPr dirty="0" sz="1200" spc="-10">
                <a:latin typeface="Arial"/>
                <a:cs typeface="Arial"/>
              </a:rPr>
              <a:t> üzerinde </a:t>
            </a:r>
            <a:r>
              <a:rPr dirty="0" sz="1200">
                <a:latin typeface="Arial"/>
                <a:cs typeface="Arial"/>
              </a:rPr>
              <a:t>interaktif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bir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uzay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deneyimi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sunar.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Projenin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teknolojik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omurgasını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oluşturan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JavaScript</a:t>
            </a:r>
            <a:r>
              <a:rPr dirty="0" sz="1200" spc="-10">
                <a:latin typeface="Arial"/>
                <a:cs typeface="Arial"/>
              </a:rPr>
              <a:t> mantığı, </a:t>
            </a:r>
            <a:r>
              <a:rPr dirty="0" sz="1200">
                <a:latin typeface="Arial"/>
                <a:cs typeface="Arial"/>
              </a:rPr>
              <a:t>fırlatma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tarihinden itibaren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geçen süreyi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hesaplayarak aracın yaklaşık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17 km/s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hızla katettiği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mesafeyi </a:t>
            </a:r>
            <a:r>
              <a:rPr dirty="0" sz="1200">
                <a:latin typeface="Arial"/>
                <a:cs typeface="Arial"/>
              </a:rPr>
              <a:t>ve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güncel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telemetri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verilerini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anlık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olarak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işlerken;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HTML5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ve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CSS3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(backdrop-filter,</a:t>
            </a:r>
            <a:r>
              <a:rPr dirty="0" sz="1200" spc="-10">
                <a:latin typeface="Arial"/>
                <a:cs typeface="Arial"/>
              </a:rPr>
              <a:t> keyframe</a:t>
            </a:r>
            <a:endParaRPr sz="1200">
              <a:latin typeface="Arial"/>
              <a:cs typeface="Arial"/>
            </a:endParaRPr>
          </a:p>
          <a:p>
            <a:pPr marL="12700" marR="220345">
              <a:lnSpc>
                <a:spcPct val="114599"/>
              </a:lnSpc>
              <a:spcBef>
                <a:spcPts val="75"/>
              </a:spcBef>
            </a:pPr>
            <a:r>
              <a:rPr dirty="0" sz="1200">
                <a:latin typeface="Arial"/>
                <a:cs typeface="Arial"/>
              </a:rPr>
              <a:t>animations) bileşenleri sayesinde bilimsel bir atmosfer yaratan modern bir kullanıcı arayüzü </a:t>
            </a:r>
            <a:r>
              <a:rPr dirty="0" sz="1200" spc="-10">
                <a:latin typeface="Arial"/>
                <a:cs typeface="Arial"/>
              </a:rPr>
              <a:t>sağlar. </a:t>
            </a:r>
            <a:r>
              <a:rPr dirty="0" sz="1200">
                <a:latin typeface="Arial"/>
                <a:cs typeface="Arial"/>
              </a:rPr>
              <a:t>"Sürdürülebilir uyumluluk" ilkesi doğrultusunda tasarlanan simülasyonda, gezegenlerin </a:t>
            </a:r>
            <a:r>
              <a:rPr dirty="0" sz="1200" spc="-10">
                <a:latin typeface="Arial"/>
                <a:cs typeface="Arial"/>
              </a:rPr>
              <a:t>yörünge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4"/>
              </a:spcBef>
            </a:pPr>
            <a:r>
              <a:rPr dirty="0" sz="1200">
                <a:latin typeface="Arial"/>
                <a:cs typeface="Arial"/>
              </a:rPr>
              <a:t>hareketleri matematiksel fonksiyonlarla simüle edilir ve kullanıcıya derin uzayın mutlak </a:t>
            </a:r>
            <a:r>
              <a:rPr dirty="0" sz="1200" spc="-10">
                <a:latin typeface="Arial"/>
                <a:cs typeface="Arial"/>
              </a:rPr>
              <a:t>izolasyonunu,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39725" y="303514"/>
            <a:ext cx="6734175" cy="5692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kriz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anlarında saniyeler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içinde karar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alma zorunluluğunu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ve sınırlı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kaynak yönetimini risksiz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bir </a:t>
            </a:r>
            <a:r>
              <a:rPr dirty="0" sz="1200" spc="-10">
                <a:latin typeface="Arial"/>
                <a:cs typeface="Arial"/>
              </a:rPr>
              <a:t>dijital </a:t>
            </a:r>
            <a:r>
              <a:rPr dirty="0" sz="1200">
                <a:latin typeface="Arial"/>
                <a:cs typeface="Arial"/>
              </a:rPr>
              <a:t>laboratuvar ortamında bizzat deneyimleme imkânı </a:t>
            </a:r>
            <a:r>
              <a:rPr dirty="0" sz="1200" spc="-10">
                <a:latin typeface="Arial"/>
                <a:cs typeface="Arial"/>
              </a:rPr>
              <a:t>tanır.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900">
                <a:latin typeface="Palatino Linotype"/>
                <a:cs typeface="Palatino Linotype"/>
              </a:rPr>
              <a:t>+Veri</a:t>
            </a:r>
            <a:r>
              <a:rPr dirty="0" sz="1900" spc="-70">
                <a:latin typeface="Palatino Linotype"/>
                <a:cs typeface="Palatino Linotype"/>
              </a:rPr>
              <a:t> </a:t>
            </a:r>
            <a:r>
              <a:rPr dirty="0" sz="1900" spc="55">
                <a:latin typeface="Palatino Linotype"/>
                <a:cs typeface="Palatino Linotype"/>
              </a:rPr>
              <a:t>kaynakları</a:t>
            </a:r>
            <a:r>
              <a:rPr dirty="0" sz="1900" spc="-65">
                <a:latin typeface="Palatino Linotype"/>
                <a:cs typeface="Palatino Linotype"/>
              </a:rPr>
              <a:t> </a:t>
            </a:r>
            <a:r>
              <a:rPr dirty="0" sz="1900" spc="85">
                <a:latin typeface="Palatino Linotype"/>
                <a:cs typeface="Palatino Linotype"/>
              </a:rPr>
              <a:t>neler?</a:t>
            </a:r>
            <a:endParaRPr sz="19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dirty="0" u="sng" sz="1200" spc="-10" b="1">
                <a:solidFill>
                  <a:srgbClr val="1A61FF"/>
                </a:solidFill>
                <a:uFill>
                  <a:solidFill>
                    <a:srgbClr val="1A61FF"/>
                  </a:solidFill>
                </a:uFill>
                <a:latin typeface="Arial"/>
                <a:cs typeface="Arial"/>
                <a:hlinkClick r:id="rId2"/>
              </a:rPr>
              <a:t>https://tua</a:t>
            </a:r>
            <a:r>
              <a:rPr dirty="0" sz="1200" spc="-10" b="1">
                <a:solidFill>
                  <a:srgbClr val="1A61FF"/>
                </a:solidFill>
                <a:latin typeface="Arial"/>
                <a:cs typeface="Arial"/>
                <a:hlinkClick r:id="rId2"/>
              </a:rPr>
              <a:t>.g</a:t>
            </a:r>
            <a:r>
              <a:rPr dirty="0" u="sng" sz="1200" spc="-10" b="1">
                <a:solidFill>
                  <a:srgbClr val="1A61FF"/>
                </a:solidFill>
                <a:uFill>
                  <a:solidFill>
                    <a:srgbClr val="1A61FF"/>
                  </a:solidFill>
                </a:uFill>
                <a:latin typeface="Arial"/>
                <a:cs typeface="Arial"/>
                <a:hlinkClick r:id="rId2"/>
              </a:rPr>
              <a:t>ov.tr/tr</a:t>
            </a:r>
            <a:endParaRPr sz="1200">
              <a:latin typeface="Arial"/>
              <a:cs typeface="Arial"/>
            </a:endParaRPr>
          </a:p>
          <a:p>
            <a:pPr marL="12700" marR="2486025">
              <a:lnSpc>
                <a:spcPct val="199700"/>
              </a:lnSpc>
              <a:spcBef>
                <a:spcPts val="50"/>
              </a:spcBef>
            </a:pPr>
            <a:r>
              <a:rPr dirty="0" sz="1200" b="1">
                <a:latin typeface="Arial"/>
                <a:cs typeface="Arial"/>
              </a:rPr>
              <a:t>NASA</a:t>
            </a:r>
            <a:r>
              <a:rPr dirty="0" sz="1200" spc="-6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–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Voyager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Görev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Sayfası: </a:t>
            </a:r>
            <a:r>
              <a:rPr dirty="0" u="sng" sz="1200" spc="-10">
                <a:solidFill>
                  <a:srgbClr val="1A61FF"/>
                </a:solidFill>
                <a:uFill>
                  <a:solidFill>
                    <a:srgbClr val="1A61FF"/>
                  </a:solidFill>
                </a:uFill>
                <a:latin typeface="Arial"/>
                <a:cs typeface="Arial"/>
                <a:hlinkClick r:id="rId3"/>
              </a:rPr>
              <a:t>https://voyager.</a:t>
            </a:r>
            <a:r>
              <a:rPr dirty="0" sz="1200" spc="-10">
                <a:solidFill>
                  <a:srgbClr val="1A61FF"/>
                </a:solidFill>
                <a:latin typeface="Arial"/>
                <a:cs typeface="Arial"/>
                <a:hlinkClick r:id="rId3"/>
              </a:rPr>
              <a:t>jp</a:t>
            </a:r>
            <a:r>
              <a:rPr dirty="0" u="sng" sz="1200" spc="-10">
                <a:solidFill>
                  <a:srgbClr val="1A61FF"/>
                </a:solidFill>
                <a:uFill>
                  <a:solidFill>
                    <a:srgbClr val="1A61FF"/>
                  </a:solidFill>
                </a:uFill>
                <a:latin typeface="Arial"/>
                <a:cs typeface="Arial"/>
                <a:hlinkClick r:id="rId3"/>
              </a:rPr>
              <a:t>l.nasa.gov/</a:t>
            </a:r>
            <a:r>
              <a:rPr dirty="0" sz="1200" spc="-10">
                <a:solidFill>
                  <a:srgbClr val="1A61FF"/>
                </a:solidFill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Jet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Propulsion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Laboratory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(JPL):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u="sng" sz="1200" spc="-10">
                <a:solidFill>
                  <a:srgbClr val="1A61FF"/>
                </a:solidFill>
                <a:uFill>
                  <a:solidFill>
                    <a:srgbClr val="1A61FF"/>
                  </a:solidFill>
                </a:uFill>
                <a:latin typeface="Arial"/>
                <a:cs typeface="Arial"/>
                <a:hlinkClick r:id="rId4"/>
              </a:rPr>
              <a:t>ht</a:t>
            </a:r>
            <a:r>
              <a:rPr dirty="0" sz="1200" spc="-10">
                <a:solidFill>
                  <a:srgbClr val="1A61FF"/>
                </a:solidFill>
                <a:latin typeface="Arial"/>
                <a:cs typeface="Arial"/>
                <a:hlinkClick r:id="rId4"/>
              </a:rPr>
              <a:t>t</a:t>
            </a:r>
            <a:r>
              <a:rPr dirty="0" u="sng" sz="1200" spc="-10">
                <a:solidFill>
                  <a:srgbClr val="1A61FF"/>
                </a:solidFill>
                <a:uFill>
                  <a:solidFill>
                    <a:srgbClr val="1A61FF"/>
                  </a:solidFill>
                </a:uFill>
                <a:latin typeface="Arial"/>
                <a:cs typeface="Arial"/>
                <a:hlinkClick r:id="rId4"/>
              </a:rPr>
              <a:t>ps://www.</a:t>
            </a:r>
            <a:r>
              <a:rPr dirty="0" sz="1200" spc="-10">
                <a:solidFill>
                  <a:srgbClr val="1A61FF"/>
                </a:solidFill>
                <a:latin typeface="Arial"/>
                <a:cs typeface="Arial"/>
                <a:hlinkClick r:id="rId4"/>
              </a:rPr>
              <a:t>jp</a:t>
            </a:r>
            <a:r>
              <a:rPr dirty="0" u="sng" sz="1200" spc="-10">
                <a:solidFill>
                  <a:srgbClr val="1A61FF"/>
                </a:solidFill>
                <a:uFill>
                  <a:solidFill>
                    <a:srgbClr val="1A61FF"/>
                  </a:solidFill>
                </a:uFill>
                <a:latin typeface="Arial"/>
                <a:cs typeface="Arial"/>
                <a:hlinkClick r:id="rId4"/>
              </a:rPr>
              <a:t>l.nasa.gov/</a:t>
            </a:r>
            <a:r>
              <a:rPr dirty="0" sz="1200" spc="-10">
                <a:solidFill>
                  <a:srgbClr val="1A61FF"/>
                </a:solidFill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European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Space</a:t>
            </a:r>
            <a:r>
              <a:rPr dirty="0" sz="1200" spc="-6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Agency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(ESA):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u="sng" sz="1200" spc="-10">
                <a:solidFill>
                  <a:srgbClr val="1A61FF"/>
                </a:solidFill>
                <a:uFill>
                  <a:solidFill>
                    <a:srgbClr val="1A61FF"/>
                  </a:solidFill>
                </a:uFill>
                <a:latin typeface="Arial"/>
                <a:cs typeface="Arial"/>
                <a:hlinkClick r:id="rId5"/>
              </a:rPr>
              <a:t>ht</a:t>
            </a:r>
            <a:r>
              <a:rPr dirty="0" sz="1200" spc="-10">
                <a:solidFill>
                  <a:srgbClr val="1A61FF"/>
                </a:solidFill>
                <a:latin typeface="Arial"/>
                <a:cs typeface="Arial"/>
                <a:hlinkClick r:id="rId5"/>
              </a:rPr>
              <a:t>t</a:t>
            </a:r>
            <a:r>
              <a:rPr dirty="0" u="sng" sz="1200" spc="-10">
                <a:solidFill>
                  <a:srgbClr val="1A61FF"/>
                </a:solidFill>
                <a:uFill>
                  <a:solidFill>
                    <a:srgbClr val="1A61FF"/>
                  </a:solidFill>
                </a:uFill>
                <a:latin typeface="Arial"/>
                <a:cs typeface="Arial"/>
                <a:hlinkClick r:id="rId5"/>
              </a:rPr>
              <a:t>ps://www.esa.int/</a:t>
            </a:r>
            <a:r>
              <a:rPr dirty="0" sz="1200" spc="-10">
                <a:solidFill>
                  <a:srgbClr val="1A61FF"/>
                </a:solidFill>
                <a:latin typeface="Arial"/>
                <a:cs typeface="Arial"/>
              </a:rPr>
              <a:t> </a:t>
            </a:r>
            <a:r>
              <a:rPr dirty="0" u="sng" sz="1200" spc="-10" b="1">
                <a:solidFill>
                  <a:srgbClr val="1A61FF"/>
                </a:solidFill>
                <a:uFill>
                  <a:solidFill>
                    <a:srgbClr val="1A61FF"/>
                  </a:solidFill>
                </a:uFill>
                <a:latin typeface="Arial"/>
                <a:cs typeface="Arial"/>
                <a:hlinkClick r:id="rId6"/>
              </a:rPr>
              <a:t>ht</a:t>
            </a:r>
            <a:r>
              <a:rPr dirty="0" sz="1200" spc="-10" b="1">
                <a:solidFill>
                  <a:srgbClr val="1A61FF"/>
                </a:solidFill>
                <a:latin typeface="Arial"/>
                <a:cs typeface="Arial"/>
                <a:hlinkClick r:id="rId6"/>
              </a:rPr>
              <a:t>tp</a:t>
            </a:r>
            <a:r>
              <a:rPr dirty="0" u="sng" sz="1200" spc="-10" b="1">
                <a:solidFill>
                  <a:srgbClr val="1A61FF"/>
                </a:solidFill>
                <a:uFill>
                  <a:solidFill>
                    <a:srgbClr val="1A61FF"/>
                  </a:solidFill>
                </a:uFill>
                <a:latin typeface="Arial"/>
                <a:cs typeface="Arial"/>
                <a:hlinkClick r:id="rId6"/>
              </a:rPr>
              <a:t>s://www.usgs</a:t>
            </a:r>
            <a:r>
              <a:rPr dirty="0" sz="1200" spc="-10" b="1">
                <a:solidFill>
                  <a:srgbClr val="1A61FF"/>
                </a:solidFill>
                <a:latin typeface="Arial"/>
                <a:cs typeface="Arial"/>
                <a:hlinkClick r:id="rId6"/>
              </a:rPr>
              <a:t>.g</a:t>
            </a:r>
            <a:r>
              <a:rPr dirty="0" u="sng" sz="1200" spc="-10" b="1">
                <a:solidFill>
                  <a:srgbClr val="1A61FF"/>
                </a:solidFill>
                <a:uFill>
                  <a:solidFill>
                    <a:srgbClr val="1A61FF"/>
                  </a:solidFill>
                </a:uFill>
                <a:latin typeface="Arial"/>
                <a:cs typeface="Arial"/>
                <a:hlinkClick r:id="rId6"/>
              </a:rPr>
              <a:t>ov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b="1">
                <a:latin typeface="Arial"/>
                <a:cs typeface="Arial"/>
              </a:rPr>
              <a:t>Wikipedia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–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Voyager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1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Sayfası: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u="sng" sz="1200" spc="-10">
                <a:solidFill>
                  <a:srgbClr val="1A61FF"/>
                </a:solidFill>
                <a:uFill>
                  <a:solidFill>
                    <a:srgbClr val="1A61FF"/>
                  </a:solidFill>
                </a:uFill>
                <a:latin typeface="Arial"/>
                <a:cs typeface="Arial"/>
                <a:hlinkClick r:id="rId7"/>
              </a:rPr>
              <a:t>ht</a:t>
            </a:r>
            <a:r>
              <a:rPr dirty="0" sz="1200" spc="-10">
                <a:solidFill>
                  <a:srgbClr val="1A61FF"/>
                </a:solidFill>
                <a:latin typeface="Arial"/>
                <a:cs typeface="Arial"/>
                <a:hlinkClick r:id="rId7"/>
              </a:rPr>
              <a:t>t</a:t>
            </a:r>
            <a:r>
              <a:rPr dirty="0" u="sng" sz="1200" spc="-10">
                <a:solidFill>
                  <a:srgbClr val="1A61FF"/>
                </a:solidFill>
                <a:uFill>
                  <a:solidFill>
                    <a:srgbClr val="1A61FF"/>
                  </a:solidFill>
                </a:uFill>
                <a:latin typeface="Arial"/>
                <a:cs typeface="Arial"/>
                <a:hlinkClick r:id="rId7"/>
              </a:rPr>
              <a:t>ps://en.wik</a:t>
            </a:r>
            <a:r>
              <a:rPr dirty="0" sz="1200" spc="-10">
                <a:solidFill>
                  <a:srgbClr val="1A61FF"/>
                </a:solidFill>
                <a:latin typeface="Arial"/>
                <a:cs typeface="Arial"/>
                <a:hlinkClick r:id="rId7"/>
              </a:rPr>
              <a:t>i</a:t>
            </a:r>
            <a:r>
              <a:rPr dirty="0" u="sng" sz="1200" spc="-10">
                <a:solidFill>
                  <a:srgbClr val="1A61FF"/>
                </a:solidFill>
                <a:uFill>
                  <a:solidFill>
                    <a:srgbClr val="1A61FF"/>
                  </a:solidFill>
                </a:uFill>
                <a:latin typeface="Arial"/>
                <a:cs typeface="Arial"/>
                <a:hlinkClick r:id="rId7"/>
              </a:rPr>
              <a:t>pedia.o</a:t>
            </a:r>
            <a:r>
              <a:rPr dirty="0" sz="1200" spc="-10">
                <a:solidFill>
                  <a:srgbClr val="1A61FF"/>
                </a:solidFill>
                <a:latin typeface="Arial"/>
                <a:cs typeface="Arial"/>
                <a:hlinkClick r:id="rId7"/>
              </a:rPr>
              <a:t>rg</a:t>
            </a:r>
            <a:r>
              <a:rPr dirty="0" u="sng" sz="1200" spc="-10">
                <a:solidFill>
                  <a:srgbClr val="1A61FF"/>
                </a:solidFill>
                <a:uFill>
                  <a:solidFill>
                    <a:srgbClr val="1A61FF"/>
                  </a:solidFill>
                </a:uFill>
                <a:latin typeface="Arial"/>
                <a:cs typeface="Arial"/>
                <a:hlinkClick r:id="rId7"/>
              </a:rPr>
              <a:t>/wiki/Voyager_1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b="1">
                <a:latin typeface="Arial"/>
                <a:cs typeface="Arial"/>
              </a:rPr>
              <a:t>National</a:t>
            </a:r>
            <a:r>
              <a:rPr dirty="0" sz="1200" spc="-6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Geographic:</a:t>
            </a:r>
            <a:r>
              <a:rPr dirty="0" sz="1200" spc="-60" b="1">
                <a:latin typeface="Arial"/>
                <a:cs typeface="Arial"/>
              </a:rPr>
              <a:t> </a:t>
            </a:r>
            <a:r>
              <a:rPr dirty="0" u="sng" sz="1200" spc="-10">
                <a:solidFill>
                  <a:srgbClr val="1A61FF"/>
                </a:solidFill>
                <a:uFill>
                  <a:solidFill>
                    <a:srgbClr val="1A61FF"/>
                  </a:solidFill>
                </a:uFill>
                <a:latin typeface="Arial"/>
                <a:cs typeface="Arial"/>
                <a:hlinkClick r:id="rId8"/>
              </a:rPr>
              <a:t>ht</a:t>
            </a:r>
            <a:r>
              <a:rPr dirty="0" sz="1200" spc="-10">
                <a:solidFill>
                  <a:srgbClr val="1A61FF"/>
                </a:solidFill>
                <a:latin typeface="Arial"/>
                <a:cs typeface="Arial"/>
                <a:hlinkClick r:id="rId8"/>
              </a:rPr>
              <a:t>t</a:t>
            </a:r>
            <a:r>
              <a:rPr dirty="0" u="sng" sz="1200" spc="-10">
                <a:solidFill>
                  <a:srgbClr val="1A61FF"/>
                </a:solidFill>
                <a:uFill>
                  <a:solidFill>
                    <a:srgbClr val="1A61FF"/>
                  </a:solidFill>
                </a:uFill>
                <a:latin typeface="Arial"/>
                <a:cs typeface="Arial"/>
                <a:hlinkClick r:id="rId8"/>
              </a:rPr>
              <a:t>ps://www.nationalgeographic.com/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b="1" i="1">
                <a:latin typeface="Arial"/>
                <a:cs typeface="Arial"/>
              </a:rPr>
              <a:t>Pale</a:t>
            </a:r>
            <a:r>
              <a:rPr dirty="0" sz="1200" spc="-10" b="1" i="1">
                <a:latin typeface="Arial"/>
                <a:cs typeface="Arial"/>
              </a:rPr>
              <a:t> </a:t>
            </a:r>
            <a:r>
              <a:rPr dirty="0" sz="1200" b="1" i="1">
                <a:latin typeface="Arial"/>
                <a:cs typeface="Arial"/>
              </a:rPr>
              <a:t>Blue</a:t>
            </a:r>
            <a:r>
              <a:rPr dirty="0" sz="1200" spc="-5" b="1" i="1">
                <a:latin typeface="Arial"/>
                <a:cs typeface="Arial"/>
              </a:rPr>
              <a:t> </a:t>
            </a:r>
            <a:r>
              <a:rPr dirty="0" sz="1200" b="1" i="1">
                <a:latin typeface="Arial"/>
                <a:cs typeface="Arial"/>
              </a:rPr>
              <a:t>Dot</a:t>
            </a:r>
            <a:r>
              <a:rPr dirty="0" sz="1200" spc="-10" b="1" i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(Soluk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Mavi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Nokta)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–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Carl</a:t>
            </a:r>
            <a:r>
              <a:rPr dirty="0" sz="1200" spc="-10">
                <a:latin typeface="Arial"/>
                <a:cs typeface="Arial"/>
              </a:rPr>
              <a:t> Sagan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b="1" i="1">
                <a:latin typeface="Arial"/>
                <a:cs typeface="Arial"/>
              </a:rPr>
              <a:t>Murmurs</a:t>
            </a:r>
            <a:r>
              <a:rPr dirty="0" sz="1200" spc="-20" b="1" i="1">
                <a:latin typeface="Arial"/>
                <a:cs typeface="Arial"/>
              </a:rPr>
              <a:t> </a:t>
            </a:r>
            <a:r>
              <a:rPr dirty="0" sz="1200" b="1" i="1">
                <a:latin typeface="Arial"/>
                <a:cs typeface="Arial"/>
              </a:rPr>
              <a:t>of</a:t>
            </a:r>
            <a:r>
              <a:rPr dirty="0" sz="1200" spc="-20" b="1" i="1">
                <a:latin typeface="Arial"/>
                <a:cs typeface="Arial"/>
              </a:rPr>
              <a:t> </a:t>
            </a:r>
            <a:r>
              <a:rPr dirty="0" sz="1200" b="1" i="1">
                <a:latin typeface="Arial"/>
                <a:cs typeface="Arial"/>
              </a:rPr>
              <a:t>Earth</a:t>
            </a:r>
            <a:r>
              <a:rPr dirty="0" sz="1200" spc="-15" b="1" i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(Dünya'nın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Mırıltıları)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–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Carl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Sagan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b="1">
                <a:latin typeface="Arial"/>
                <a:cs typeface="Arial"/>
              </a:rPr>
              <a:t>ChatGPT</a:t>
            </a:r>
            <a:r>
              <a:rPr dirty="0" sz="1200" spc="7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Sohbet</a:t>
            </a:r>
            <a:r>
              <a:rPr dirty="0" sz="1200" spc="7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Geçmişi:</a:t>
            </a:r>
            <a:r>
              <a:rPr dirty="0" sz="1200" spc="70" b="1">
                <a:latin typeface="Arial"/>
                <a:cs typeface="Arial"/>
              </a:rPr>
              <a:t> </a:t>
            </a:r>
            <a:r>
              <a:rPr dirty="0" u="sng" sz="1200" spc="-10">
                <a:solidFill>
                  <a:srgbClr val="1A61FF"/>
                </a:solidFill>
                <a:uFill>
                  <a:solidFill>
                    <a:srgbClr val="1A61FF"/>
                  </a:solidFill>
                </a:uFill>
                <a:latin typeface="Arial"/>
                <a:cs typeface="Arial"/>
                <a:hlinkClick r:id="rId9"/>
              </a:rPr>
              <a:t>ht</a:t>
            </a:r>
            <a:r>
              <a:rPr dirty="0" sz="1200" spc="-10">
                <a:solidFill>
                  <a:srgbClr val="1A61FF"/>
                </a:solidFill>
                <a:latin typeface="Arial"/>
                <a:cs typeface="Arial"/>
                <a:hlinkClick r:id="rId9"/>
              </a:rPr>
              <a:t>t</a:t>
            </a:r>
            <a:r>
              <a:rPr dirty="0" u="sng" sz="1200" spc="-10">
                <a:solidFill>
                  <a:srgbClr val="1A61FF"/>
                </a:solidFill>
                <a:uFill>
                  <a:solidFill>
                    <a:srgbClr val="1A61FF"/>
                  </a:solidFill>
                </a:uFill>
                <a:latin typeface="Arial"/>
                <a:cs typeface="Arial"/>
                <a:hlinkClick r:id="rId9"/>
              </a:rPr>
              <a:t>ps://cha</a:t>
            </a:r>
            <a:r>
              <a:rPr dirty="0" sz="1200" spc="-10">
                <a:solidFill>
                  <a:srgbClr val="1A61FF"/>
                </a:solidFill>
                <a:latin typeface="Arial"/>
                <a:cs typeface="Arial"/>
                <a:hlinkClick r:id="rId9"/>
              </a:rPr>
              <a:t>tg</a:t>
            </a:r>
            <a:r>
              <a:rPr dirty="0" u="sng" sz="1200" spc="-10">
                <a:solidFill>
                  <a:srgbClr val="1A61FF"/>
                </a:solidFill>
                <a:uFill>
                  <a:solidFill>
                    <a:srgbClr val="1A61FF"/>
                  </a:solidFill>
                </a:uFill>
                <a:latin typeface="Arial"/>
                <a:cs typeface="Arial"/>
                <a:hlinkClick r:id="rId9"/>
              </a:rPr>
              <a:t>pt.com/c/69c6ca97-</a:t>
            </a:r>
            <a:r>
              <a:rPr dirty="0" u="sng" sz="1200">
                <a:solidFill>
                  <a:srgbClr val="1A61FF"/>
                </a:solidFill>
                <a:uFill>
                  <a:solidFill>
                    <a:srgbClr val="1A61FF"/>
                  </a:solidFill>
                </a:uFill>
                <a:latin typeface="Arial"/>
                <a:cs typeface="Arial"/>
                <a:hlinkClick r:id="rId9"/>
              </a:rPr>
              <a:t>48b4-8326-8f22-</a:t>
            </a:r>
            <a:r>
              <a:rPr dirty="0" u="sng" sz="1200" spc="-10">
                <a:solidFill>
                  <a:srgbClr val="1A61FF"/>
                </a:solidFill>
                <a:uFill>
                  <a:solidFill>
                    <a:srgbClr val="1A61FF"/>
                  </a:solidFill>
                </a:uFill>
                <a:latin typeface="Arial"/>
                <a:cs typeface="Arial"/>
                <a:hlinkClick r:id="rId9"/>
              </a:rPr>
              <a:t>664d11904c43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b="1">
                <a:latin typeface="Arial"/>
                <a:cs typeface="Arial"/>
              </a:rPr>
              <a:t>Carl Sagan </a:t>
            </a:r>
            <a:r>
              <a:rPr dirty="0" sz="1200">
                <a:latin typeface="Arial"/>
                <a:cs typeface="Arial"/>
              </a:rPr>
              <a:t>(Altın Plak lideri ve bilimsel </a:t>
            </a:r>
            <a:r>
              <a:rPr dirty="0" sz="1200" spc="-10">
                <a:latin typeface="Arial"/>
                <a:cs typeface="Arial"/>
              </a:rPr>
              <a:t>danışman)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Ed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Stone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(Voyager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projesi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baş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bilim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insanı,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50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yıllık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görev</a:t>
            </a:r>
            <a:r>
              <a:rPr dirty="0" sz="1200" spc="-10">
                <a:latin typeface="Arial"/>
                <a:cs typeface="Arial"/>
              </a:rPr>
              <a:t> lideri)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Frank Drake </a:t>
            </a:r>
            <a:r>
              <a:rPr dirty="0" sz="1200">
                <a:latin typeface="Arial"/>
                <a:cs typeface="Arial"/>
              </a:rPr>
              <a:t>(Uzaylılarla iletişim uzmanı ve</a:t>
            </a:r>
            <a:r>
              <a:rPr dirty="0" sz="1200" spc="-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Altın Plak </a:t>
            </a:r>
            <a:r>
              <a:rPr dirty="0" sz="1200" spc="-10">
                <a:latin typeface="Arial"/>
                <a:cs typeface="Arial"/>
              </a:rPr>
              <a:t>tasarımcısı)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A61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Gizem Tütüncü</dc:creator>
  <cp:keywords>DAHFS1A3vhI,BAF_743nXRo,0</cp:keywords>
  <dc:title>1.Proje özeti</dc:title>
  <dcterms:created xsi:type="dcterms:W3CDTF">2026-03-29T07:34:03Z</dcterms:created>
  <dcterms:modified xsi:type="dcterms:W3CDTF">2026-03-29T07:34:03Z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2026-03-29T00:00:00Z</vt:filetime>
  </property>
  <property fmtid="{D5CDD505-2E9C-101B-9397-08002B2CF9AE}" pid="3" name="Creator">
    <vt:lpwstr>Canva</vt:lpwstr>
  </property>
  <property fmtid="{D5CDD505-2E9C-101B-9397-08002B2CF9AE}" pid="4" name="LastSaved">
    <vt:filetime>2026-03-29T00:00:00Z</vt:filetime>
  </property>
  <property fmtid="{D5CDD505-2E9C-101B-9397-08002B2CF9AE}" pid="5" name="Producer">
    <vt:lpwstr>3-Heights(TM) PDF Security Shell 4.8.25.2 (http://www.pdf-tools.com)</vt:lpwstr>
  </property>
</Properties>
</file>